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Montserrat Medium"/>
      <p:regular r:id="rId23"/>
      <p:bold r:id="rId24"/>
      <p:italic r:id="rId25"/>
      <p:boldItalic r:id="rId26"/>
    </p:embeddedFont>
    <p:embeddedFont>
      <p:font typeface="Montserrat ExtraBold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ontserratMedium-bold.fntdata"/><Relationship Id="rId23" Type="http://schemas.openxmlformats.org/officeDocument/2006/relationships/font" Target="fonts/Montserrat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boldItalic.fntdata"/><Relationship Id="rId25" Type="http://schemas.openxmlformats.org/officeDocument/2006/relationships/font" Target="fonts/MontserratMedium-italic.fntdata"/><Relationship Id="rId28" Type="http://schemas.openxmlformats.org/officeDocument/2006/relationships/font" Target="fonts/MontserratExtraBold-boldItalic.fntdata"/><Relationship Id="rId27" Type="http://schemas.openxmlformats.org/officeDocument/2006/relationships/font" Target="fonts/Montserrat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9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9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400" y="2964209"/>
            <a:ext cx="4267200" cy="217914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788937"/>
            <a:ext cx="9001125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1E3A8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INTERNVL: SCALING UP VISION FOUNDATION MODELS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95437" y="2259359"/>
            <a:ext cx="90011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ALIGNING FOR GENERIC VISUAL-LINGUISTIC TASKS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552950" y="3364259"/>
            <a:ext cx="30861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Học viên:</a:t>
            </a:r>
            <a:r>
              <a:rPr b="0" i="0" lang="en-US" sz="1950" u="none" cap="none" strike="noStrik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 Đinh Phương Nam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52950" y="3855690"/>
            <a:ext cx="30861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MSHV:</a:t>
            </a:r>
            <a:r>
              <a:rPr b="0" i="0" lang="en-US" sz="1950" u="none" cap="none" strike="noStrik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 250101044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552950" y="4347120"/>
            <a:ext cx="30861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Lớp:</a:t>
            </a:r>
            <a:r>
              <a:rPr b="0" i="0" lang="en-US" sz="1950" u="none" cap="none" strike="noStrik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 CS2205.xxx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809750" y="5524351"/>
            <a:ext cx="8572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github.com/OpenGVLab/InternVL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5581501"/>
            <a:ext cx="2000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0" y="2000250"/>
            <a:ext cx="4229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Tóm tắt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0925" y="2501949"/>
            <a:ext cx="4210050" cy="28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85825" y="2351246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2350293"/>
            <a:ext cx="59626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Vấn đề: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Sự chênh lệch lớn về quy mô tham số giữa LLMs (100B+) và Vision Models (~1-3B).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85825" y="3164443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3163490"/>
            <a:ext cx="59626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Giải pháp: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Đề xuất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InternVL</a:t>
            </a: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, mở rộng Vision Encoder lên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6 tỷ tham số</a:t>
            </a: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(InternViT-6B).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85825" y="3977640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3976687"/>
            <a:ext cx="59626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Phương pháp: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Kết hợp với LLM thông qua cầu nối QLLaMA và chiến lược căn chỉnh lũy tiến.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85825" y="4790836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4789884"/>
            <a:ext cx="59626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Kết quả: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Đạt hiệu suất SOTA trên 32 benchmarks đa phương thức.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00250"/>
            <a:ext cx="63436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Giới thiệu: Vấn đề Nghiên cứu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" y="2009775"/>
            <a:ext cx="5686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391400" y="1662707"/>
            <a:ext cx="44405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Bối cảnh &amp; Thách thức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705725" y="2216110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772400" y="2215157"/>
            <a:ext cx="38481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Sự phát triển bùng nổ của Generative AI (GPT-4, Gemini).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705725" y="3029307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772400" y="3028354"/>
            <a:ext cx="3848100" cy="14835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Khoảng cách tham số (Parameter Gap):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705725" y="4655700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772400" y="4654748"/>
            <a:ext cx="38481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Hệ quả: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Hạn chế khả năng nhận thức thị giác phức tạp và giảm hiệu suất của các hệ thống AI đa phương thức (Multi-modal AGI).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029575" y="336446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○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153400" y="3363515"/>
            <a:ext cx="34671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LLM: &gt;100 Tỷ tham số.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029575" y="384250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○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153400" y="3841551"/>
            <a:ext cx="34671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Vision Models: Dừng lại ở ~3 Tỷ tham số.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0" y="2000250"/>
            <a:ext cx="4229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484435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Mục tiêu Nghiên cứu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122610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2495550"/>
            <a:ext cx="422910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/>
          <p:nvPr/>
        </p:nvSpPr>
        <p:spPr>
          <a:xfrm>
            <a:off x="571500" y="1589335"/>
            <a:ext cx="6343650" cy="1416992"/>
          </a:xfrm>
          <a:prstGeom prst="roundRect">
            <a:avLst>
              <a:gd fmla="val 5377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1779835"/>
            <a:ext cx="5962650" cy="103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1. Mở rộng Quy mô (Scaling)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Xây dựng Vision Encoder lớn nhất (6B tham số) để tương xứng với LLM.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1589335"/>
            <a:ext cx="47625" cy="14169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71500" y="3196828"/>
            <a:ext cx="6343650" cy="1416992"/>
          </a:xfrm>
          <a:prstGeom prst="roundRect">
            <a:avLst>
              <a:gd fmla="val 5377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3387328"/>
            <a:ext cx="5962650" cy="103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532D"/>
                </a:solidFill>
                <a:latin typeface="Roboto"/>
                <a:ea typeface="Roboto"/>
                <a:cs typeface="Roboto"/>
                <a:sym typeface="Roboto"/>
              </a:rPr>
              <a:t>2. Căn chỉnh (Alignment)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Đồng bộ không gian đặc trưng giữa thị giác và ngôn ngữ hiệu quả.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3196828"/>
            <a:ext cx="47625" cy="14169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500" y="4804320"/>
            <a:ext cx="6343650" cy="1416992"/>
          </a:xfrm>
          <a:prstGeom prst="roundRect">
            <a:avLst>
              <a:gd fmla="val 5377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4994820"/>
            <a:ext cx="5962650" cy="1035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7C2D12"/>
                </a:solidFill>
                <a:latin typeface="Roboto"/>
                <a:ea typeface="Roboto"/>
                <a:cs typeface="Roboto"/>
                <a:sym typeface="Roboto"/>
              </a:rPr>
              <a:t>3. Tính Đa năng (Generic)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Hệ thống hoạt động tốt trên nhiều tác vụ: Phân loại, Captioning, VQA.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4804320"/>
            <a:ext cx="47625" cy="14169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0" y="2000250"/>
            <a:ext cx="4229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Kiến trúc Hệ thống (InternVL)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1869281"/>
            <a:ext cx="666083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3 Thành phần chính: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0925" y="2501949"/>
            <a:ext cx="4210050" cy="28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781050" y="2479833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52500" y="2478881"/>
            <a:ext cx="5962650" cy="1148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InternViT-6B (Vision Encoder):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81050" y="3771066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52500" y="3770114"/>
            <a:ext cx="5962650" cy="1148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QLLaMA (Alignment Bridge):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81050" y="5062299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52500" y="5061346"/>
            <a:ext cx="59626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LLM Decoder: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209675" y="281499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○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333500" y="2814042"/>
            <a:ext cx="5581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Dựa trên kiến trúc Vision Transformer (ViT).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209675" y="329303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○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333500" y="3292078"/>
            <a:ext cx="5581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Quy mô: 6 tỷ tham số.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209675" y="410622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○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333500" y="4105275"/>
            <a:ext cx="5581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Dựa trên Llama, đóng vai trò cầu nối.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209675" y="458426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○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333500" y="4583310"/>
            <a:ext cx="5581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Chuyển đổi đặc trưng ảnh thành embedding ngôn ngữ.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209675" y="539746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○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333500" y="5396507"/>
            <a:ext cx="5581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Sử dụng Vicuna hoặc Llama để sinh văn bản.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/>
        </p:nvSpPr>
        <p:spPr>
          <a:xfrm>
            <a:off x="571500" y="-573881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Chiến lược Căn chỉnh Lũy tiến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71500" y="64293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266259"/>
            <a:ext cx="11049000" cy="956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8618"/>
            <a:ext cx="5715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428625" y="4572148"/>
            <a:ext cx="6000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Contrastive Training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4955678"/>
            <a:ext cx="5715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Vision-Language Alignment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(Noisy Data)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2237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378618"/>
            <a:ext cx="5715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6691312" y="4572148"/>
            <a:ext cx="5572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532D"/>
                </a:solidFill>
                <a:latin typeface="Roboto"/>
                <a:ea typeface="Roboto"/>
                <a:cs typeface="Roboto"/>
                <a:sym typeface="Roboto"/>
              </a:rPr>
              <a:t>Generative Training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691312" y="4955678"/>
            <a:ext cx="5572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Vision-Language-LLM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(High-quality Data)</a:t>
            </a:r>
            <a:endParaRPr/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34875" y="282237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668250" y="378618"/>
            <a:ext cx="5715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15525750" y="4572148"/>
            <a:ext cx="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C2D12"/>
                </a:solidFill>
                <a:latin typeface="Roboto"/>
                <a:ea typeface="Roboto"/>
                <a:cs typeface="Roboto"/>
                <a:sym typeface="Roboto"/>
              </a:rPr>
              <a:t>Supervised Fine-tuning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5525750" y="4955678"/>
            <a:ext cx="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Task-Specific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(Instruction Data)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0" y="2000250"/>
            <a:ext cx="42291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0021"/>
            <a:ext cx="63436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69146"/>
            <a:ext cx="63436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88271"/>
            <a:ext cx="63436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76500" y="3169146"/>
            <a:ext cx="44386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76500" y="3788271"/>
            <a:ext cx="44386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6500" y="3169146"/>
            <a:ext cx="397698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76500" y="3788271"/>
            <a:ext cx="399916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Kết quả Thực nghiệm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571500" y="2045196"/>
            <a:ext cx="666083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So sánh trên ImageNet (Top-1 Accuracy)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4550271"/>
            <a:ext cx="63436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Nhận xét: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InternVL (6B) đạt hiệu suất cao hơn ViT-22B (22B) mặc dù số lượng tham số ít hơn gần 4 lần, chứng tỏ hiệu quả của kiến trúc và chiến lược huấn luyện.</a:t>
            </a:r>
            <a:endParaRPr/>
          </a:p>
        </p:txBody>
      </p:sp>
      <p:pic>
        <p:nvPicPr>
          <p:cNvPr descr="image.png" id="203" name="Google Shape;20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00925" y="2501949"/>
            <a:ext cx="4210050" cy="28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571500" y="3269158"/>
            <a:ext cx="1714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BEiT-3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571500" y="3888283"/>
            <a:ext cx="1714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InternVL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0" y="2000250"/>
            <a:ext cx="4229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Tổng kết &amp; Hướng phát triển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3" name="Google Shape;2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0" y="2495550"/>
            <a:ext cx="422910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885825" y="2662594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952500" y="2661642"/>
            <a:ext cx="5962650" cy="1148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Đóng góp: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85825" y="4001452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952500" y="4000500"/>
            <a:ext cx="5962650" cy="1148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Tương lai: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209675" y="299775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○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333500" y="2996803"/>
            <a:ext cx="5581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Thu hẹp khoảng cách giữa Vision và Language models.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209675" y="347579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○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333500" y="3474839"/>
            <a:ext cx="5581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Cung cấp Pre-trained Model mạnh mẽ cho cộng đồng.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209675" y="433661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○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333500" y="4335660"/>
            <a:ext cx="5581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Tích hợp vào các hệ thống Robot (Embodied AI).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1209675" y="481464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○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1333500" y="4813696"/>
            <a:ext cx="55816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Mở rộng khả năng xử lý Video và 3D.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Tài liệu tham khảo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885825" y="2192000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952500" y="2191047"/>
            <a:ext cx="10668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[1] Paper: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Zhe Chen et al., </a:t>
            </a:r>
            <a:r>
              <a:rPr b="0" i="1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"InternVL: Scaling up Vision Foundation Models and Aligning for Generic Visual-Linguistic Tasks"</a:t>
            </a: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, CVPR 2024 Oral.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ArXiv: 2312.14238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85825" y="3483232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952500" y="348228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[2] Github Repository: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https://github.com/OpenGVLab/InternVL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885825" y="4104143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952500" y="4103191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[3] Tools: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LLaVA, Vicuna, PyTorch.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295275" y="538132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CẢM ƠN THẦY VÀ CÁC BẠN!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