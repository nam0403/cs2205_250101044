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</p:sldIdLst>
  <p:sldSz cx="12192000" cy="6858000"/>
  <p:notesSz cx="6858000" cy="9144000"/>
  <p:embeddedFontLst>
    <p:embeddedFont>
      <p:font typeface="Lato" panose="020F0502020204030203" pitchFamily="34" charset="0"/>
      <p:regular r:id="rId12"/>
      <p:bold r:id="rId13"/>
      <p:italic r:id="rId14"/>
      <p:boldItalic r:id="rId15"/>
    </p:embeddedFont>
    <p:embeddedFont>
      <p:font typeface="Lato Light" panose="020F0502020204030203" pitchFamily="34" charset="0"/>
      <p:regular r:id="rId16"/>
      <p:bold r:id="rId17"/>
      <p:italic r:id="rId18"/>
      <p:boldItalic r:id="rId19"/>
    </p:embeddedFont>
    <p:embeddedFont>
      <p:font typeface="Merriweather" panose="000005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8157" y="4599533"/>
            <a:ext cx="4535537" cy="150495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753516"/>
            <a:ext cx="116014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2DD4BF"/>
                </a:solidFill>
                <a:latin typeface="Merriweather"/>
                <a:ea typeface="Merriweather"/>
                <a:cs typeface="Merriweather"/>
                <a:sym typeface="Merriweather"/>
              </a:rPr>
              <a:t>ĐỀ TÀI NGHIÊN CỨU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95275" y="1239291"/>
            <a:ext cx="11601450" cy="2194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F1F5F9"/>
                </a:solidFill>
                <a:latin typeface="Merriweather"/>
                <a:ea typeface="Merriweather"/>
                <a:cs typeface="Merriweather"/>
                <a:sym typeface="Merriweather"/>
              </a:rPr>
              <a:t>MỞ RỘNG QUY MÔ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4800" b="1" i="0" u="none" strike="noStrike" cap="none">
                <a:solidFill>
                  <a:srgbClr val="F1F5F9"/>
                </a:solidFill>
                <a:latin typeface="Merriweather"/>
                <a:ea typeface="Merriweather"/>
                <a:cs typeface="Merriweather"/>
                <a:sym typeface="Merriweather"/>
              </a:rPr>
              <a:t> CÁC MÔ HÌNH NỀN TẢNG THỊ GIÁC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3624262"/>
            <a:ext cx="110490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Lato Light"/>
                <a:ea typeface="Lato Light"/>
                <a:cs typeface="Lato Light"/>
                <a:sym typeface="Lato Light"/>
              </a:rPr>
              <a:t>InternVL: Scaling up Vision Foundation Models and Aligning for Generic Visual-Linguistic Tasks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4028181" y="4613344"/>
            <a:ext cx="413548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Học </a:t>
            </a:r>
            <a:r>
              <a:rPr lang="en-US" sz="150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viên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Đinh Phương Nam | </a:t>
            </a:r>
            <a:r>
              <a:rPr lang="vi-VN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MSH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V: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250101044</a:t>
            </a:r>
            <a:endParaRPr dirty="0"/>
          </a:p>
        </p:txBody>
      </p:sp>
      <p:sp>
        <p:nvSpPr>
          <p:cNvPr id="89" name="Google Shape;89;p13"/>
          <p:cNvSpPr txBox="1"/>
          <p:nvPr/>
        </p:nvSpPr>
        <p:spPr>
          <a:xfrm>
            <a:off x="4028181" y="5280571"/>
            <a:ext cx="4135487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Lớp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CS2205.CH201</a:t>
            </a:r>
            <a:endParaRPr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4028182" y="5552033"/>
            <a:ext cx="4135487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github.com/nam0403/CS2205_250101044</a:t>
            </a:r>
            <a:endParaRPr/>
          </a:p>
        </p:txBody>
      </p:sp>
      <p:pic>
        <p:nvPicPr>
          <p:cNvPr id="91" name="Google Shape;91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71801" y="5618708"/>
            <a:ext cx="180975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/>
          <p:nvPr/>
        </p:nvSpPr>
        <p:spPr>
          <a:xfrm>
            <a:off x="762000" y="985837"/>
            <a:ext cx="48006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2DD4BF"/>
                </a:solidFill>
                <a:latin typeface="Merriweather"/>
                <a:ea typeface="Merriweather"/>
                <a:cs typeface="Merriweather"/>
                <a:sym typeface="Merriweather"/>
              </a:rPr>
              <a:t>Bối Cảnh &amp; Vấn Đề</a:t>
            </a:r>
            <a:endParaRPr/>
          </a:p>
        </p:txBody>
      </p:sp>
      <p:sp>
        <p:nvSpPr>
          <p:cNvPr id="97" name="Google Shape;97;p14"/>
          <p:cNvSpPr/>
          <p:nvPr/>
        </p:nvSpPr>
        <p:spPr>
          <a:xfrm>
            <a:off x="762000" y="1700212"/>
            <a:ext cx="4572000" cy="2857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51871" y="381000"/>
            <a:ext cx="6096000" cy="60960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762000" y="2109787"/>
            <a:ext cx="4800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Sự Lệch Pha Nghiêm Trọng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762000" y="2452687"/>
            <a:ext cx="45720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Các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Mô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hình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Ngôn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ngữ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Lớn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(LLM)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đã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đạt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tới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hàng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nghìn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tỷ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tham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số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trong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khi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các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bộ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mã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hóa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thị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giác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(Vision Encoders)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phổ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biến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vẫn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chỉ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dừng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lại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ở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khoảng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1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tỷ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101" name="Google Shape;101;p14"/>
          <p:cNvSpPr txBox="1"/>
          <p:nvPr/>
        </p:nvSpPr>
        <p:spPr>
          <a:xfrm>
            <a:off x="762000" y="4062414"/>
            <a:ext cx="4800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Hạn</a:t>
            </a:r>
            <a:r>
              <a:rPr lang="en-US" sz="2100" b="0" i="0" u="none" strike="noStrike" cap="none" dirty="0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2100" b="0" i="0" u="none" strike="noStrike" cap="none" dirty="0" err="1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Chế</a:t>
            </a:r>
            <a:r>
              <a:rPr lang="en-US" sz="2100" b="0" i="0" u="none" strike="noStrike" cap="none" dirty="0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2100" b="0" i="0" u="none" strike="noStrike" cap="none" dirty="0" err="1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Của</a:t>
            </a:r>
            <a:r>
              <a:rPr lang="en-US" sz="2100" b="0" i="0" u="none" strike="noStrike" cap="none" dirty="0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2100" b="0" i="0" u="none" strike="noStrike" cap="none" dirty="0" err="1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Giải</a:t>
            </a:r>
            <a:r>
              <a:rPr lang="en-US" sz="2100" b="0" i="0" u="none" strike="noStrike" cap="none" dirty="0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 Pháp </a:t>
            </a:r>
            <a:r>
              <a:rPr lang="en-US" sz="2100" b="0" i="0" u="none" strike="noStrike" cap="none" dirty="0" err="1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Hiện</a:t>
            </a:r>
            <a:r>
              <a:rPr lang="en-US" sz="2100" b="0" i="0" u="none" strike="noStrike" cap="none" dirty="0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2100" b="0" i="0" u="none" strike="noStrike" cap="none" dirty="0" err="1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Tại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762000" y="4462462"/>
            <a:ext cx="45720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Các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phương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pháp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kết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nối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như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QFormer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hay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phép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chiếu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tuyến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tính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thường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có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kích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thước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nhỏ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và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khởi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tạo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ngẫu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nhiên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dẫn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đến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thiếu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hiệu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quả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trong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việc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nắm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bắt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mối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quan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hệ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phức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tạp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giữa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các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phương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thức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286000"/>
            <a:ext cx="3492549" cy="340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2286000"/>
            <a:ext cx="3492549" cy="340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2286000"/>
            <a:ext cx="3492549" cy="3409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2DD4BF"/>
                </a:solidFill>
                <a:latin typeface="Merriweather"/>
                <a:ea typeface="Merriweather"/>
                <a:cs typeface="Merriweather"/>
                <a:sym typeface="Merriweather"/>
              </a:rPr>
              <a:t>Mục Tiêu Nghiên Cứu</a:t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571500" y="1285875"/>
            <a:ext cx="11049000" cy="2857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794225" y="3314700"/>
            <a:ext cx="304709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Mở Rộng Quy Mô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66775" y="3990975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Xây dựng bộ mã hóa thị giác InternViT-6B với 6 tỷ tham số để tương xứng với năng lực của LLM.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4572524" y="3314700"/>
            <a:ext cx="304709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Đồng Bộ Hóa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4645074" y="3990975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Thiết kế Middleware QLLaMA và chiến lược căn chỉnh để "phiên dịch" tín hiệu thị giác sang ngôn ngữ.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350824" y="3314700"/>
            <a:ext cx="304709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Hiệu Suất SOTA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8423374" y="3990975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Đạt kết quả dẫn đầu trên 32 bộ dữ liệu chuẩn, từ thị giác thuần túy đến đối thoại đa phương thức.</a:t>
            </a:r>
            <a:endParaRPr/>
          </a:p>
        </p:txBody>
      </p:sp>
      <p:pic>
        <p:nvPicPr>
          <p:cNvPr id="118" name="Google Shape;118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17675" y="2628900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0" y="262890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17124" y="2628900"/>
            <a:ext cx="51435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1750" y="2085975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2DD4BF"/>
                </a:solidFill>
                <a:latin typeface="Merriweather"/>
                <a:ea typeface="Merriweather"/>
                <a:cs typeface="Merriweather"/>
                <a:sym typeface="Merriweather"/>
              </a:rPr>
              <a:t>Kiến Trúc InternVL</a:t>
            </a:r>
            <a:endParaRPr/>
          </a:p>
        </p:txBody>
      </p:sp>
      <p:sp>
        <p:nvSpPr>
          <p:cNvPr id="127" name="Google Shape;127;p16"/>
          <p:cNvSpPr/>
          <p:nvPr/>
        </p:nvSpPr>
        <p:spPr>
          <a:xfrm>
            <a:off x="571500" y="1285875"/>
            <a:ext cx="11049000" cy="2857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6"/>
          <p:cNvSpPr txBox="1"/>
          <p:nvPr/>
        </p:nvSpPr>
        <p:spPr>
          <a:xfrm>
            <a:off x="597925" y="5676900"/>
            <a:ext cx="5238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*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Tích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hợp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cơ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chế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xử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lý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độ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phân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giải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động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để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nắm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bắt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chi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tiết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tinh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vi.</a:t>
            </a:r>
            <a:endParaRPr dirty="0"/>
          </a:p>
        </p:txBody>
      </p:sp>
      <p:sp>
        <p:nvSpPr>
          <p:cNvPr id="130" name="Google Shape;130;p16"/>
          <p:cNvSpPr txBox="1"/>
          <p:nvPr/>
        </p:nvSpPr>
        <p:spPr>
          <a:xfrm>
            <a:off x="762000" y="2314575"/>
            <a:ext cx="5048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InternViT-6B: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Bộ mã hóa thị giác dựa trên ViT, mở rộng lên 6 tỷ tham số. Sử dụng RMSNorm và SwiGLU để tối ưu hóa huấn luyện.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762000" y="3419475"/>
            <a:ext cx="542249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QLLaMA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(Middleware):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Cầu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nối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khởi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tạo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từ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LLaMA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nén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và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chuyển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đổi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đặc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trưng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thị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giác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sang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không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gian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vector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của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LLM.</a:t>
            </a:r>
            <a:endParaRPr dirty="0"/>
          </a:p>
        </p:txBody>
      </p:sp>
      <p:sp>
        <p:nvSpPr>
          <p:cNvPr id="132" name="Google Shape;132;p16"/>
          <p:cNvSpPr txBox="1"/>
          <p:nvPr/>
        </p:nvSpPr>
        <p:spPr>
          <a:xfrm>
            <a:off x="762000" y="4404241"/>
            <a:ext cx="5265173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LLM Decoder: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Sử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dụng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các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mô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hình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như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Vicuna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hoặc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InternLM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để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thực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hiện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suy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luận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phức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tạp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pic>
        <p:nvPicPr>
          <p:cNvPr id="133" name="Google Shape;13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1962" y="2381250"/>
            <a:ext cx="2190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6250" y="3486150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86082" y="4495800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366A9A7-2543-869C-CC02-C215A6BC1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326" y="2085975"/>
            <a:ext cx="5836674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467225"/>
            <a:ext cx="3314700" cy="234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38650" y="1552575"/>
            <a:ext cx="3314700" cy="234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05800" y="4467225"/>
            <a:ext cx="3314700" cy="234315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2DD4BF"/>
                </a:solidFill>
                <a:latin typeface="Merriweather"/>
                <a:ea typeface="Merriweather"/>
                <a:cs typeface="Merriweather"/>
                <a:sym typeface="Merriweather"/>
              </a:rPr>
              <a:t>Chiến lược Căn chỉnh Lũy tiến</a:t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571500" y="1285875"/>
            <a:ext cx="11049000" cy="2857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571500" y="4162425"/>
            <a:ext cx="1104900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698658" y="4667250"/>
            <a:ext cx="306038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Giai đoạn 1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771525" y="5200650"/>
            <a:ext cx="29146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Tiền huấn luyện Tương phản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Sử dụng dữ liệu web khổng lồ (có nhiễu) để xây dựng nền tảng thị giác mạnh mẽ.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4565808" y="1752600"/>
            <a:ext cx="306038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Giai đoạn 2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4638675" y="2286000"/>
            <a:ext cx="29146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Tiền huấn luyện Sinh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Dữ liệu chất lượng cao (COCO). Đóng băng Vision Encoder, chỉ huấn luyện QLLaMA.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8432958" y="4667250"/>
            <a:ext cx="306038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Giai đoạn 3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8505825" y="5200650"/>
            <a:ext cx="29146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Tinh chỉnh có giám sát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Dữ liệu hướng dẫn (Instruction Tuning). Tối ưu khả năng đối thoại và tuân thủ chỉ dẫn.</a:t>
            </a:r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2114550" y="40671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 cap="flat" cmpd="sng">
            <a:solidFill>
              <a:srgbClr val="2DD4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5981700" y="40671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 cap="flat" cmpd="sng">
            <a:solidFill>
              <a:srgbClr val="2DD4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9848850" y="40671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38100" cap="flat" cmpd="sng">
            <a:solidFill>
              <a:srgbClr val="2DD4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73883-851D-E305-DFB7-B70F18C46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1158"/>
            <a:ext cx="12192000" cy="5035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921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8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2DD4BF"/>
                </a:solidFill>
                <a:latin typeface="Merriweather"/>
                <a:ea typeface="Merriweather"/>
                <a:cs typeface="Merriweather"/>
                <a:sym typeface="Merriweather"/>
              </a:rPr>
              <a:t>Hiệu Suất Thị Giác</a:t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571500" y="1285875"/>
            <a:ext cx="11049000" cy="2857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8"/>
          <p:cNvSpPr txBox="1"/>
          <p:nvPr/>
        </p:nvSpPr>
        <p:spPr>
          <a:xfrm>
            <a:off x="571500" y="1657197"/>
            <a:ext cx="55006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Vượt</a:t>
            </a:r>
            <a:r>
              <a:rPr lang="en-US" sz="2100" b="0" i="0" u="none" strike="noStrike" cap="none" dirty="0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2100" b="0" i="0" u="none" strike="noStrike" cap="none" dirty="0" err="1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Trội</a:t>
            </a:r>
            <a:r>
              <a:rPr lang="en-US" sz="2100" b="0" i="0" u="none" strike="noStrike" cap="none" dirty="0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2100" b="0" i="0" u="none" strike="noStrike" cap="none" dirty="0" err="1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Trên</a:t>
            </a:r>
            <a:r>
              <a:rPr lang="en-US" sz="2100" b="0" i="0" u="none" strike="noStrike" cap="none" dirty="0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 Các </a:t>
            </a:r>
            <a:r>
              <a:rPr lang="en-US" sz="2100" b="0" i="0" u="none" strike="noStrike" cap="none" dirty="0" err="1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Tác</a:t>
            </a:r>
            <a:r>
              <a:rPr lang="en-US" sz="2100" b="0" i="0" u="none" strike="noStrike" cap="none" dirty="0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sz="2100" b="0" i="0" u="none" strike="noStrike" cap="none" dirty="0" err="1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Vụ</a:t>
            </a:r>
            <a:endParaRPr dirty="0"/>
          </a:p>
        </p:txBody>
      </p:sp>
      <p:sp>
        <p:nvSpPr>
          <p:cNvPr id="163" name="Google Shape;163;p18"/>
          <p:cNvSpPr txBox="1"/>
          <p:nvPr/>
        </p:nvSpPr>
        <p:spPr>
          <a:xfrm>
            <a:off x="769989" y="2302439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838200" y="2247594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Phân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loại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ảnh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(ImageNet):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Vượt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qua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các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mô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hình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lớn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như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ViT-22B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và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BEiT-3.</a:t>
            </a:r>
            <a:endParaRPr dirty="0"/>
          </a:p>
        </p:txBody>
      </p:sp>
      <p:sp>
        <p:nvSpPr>
          <p:cNvPr id="165" name="Google Shape;165;p18"/>
          <p:cNvSpPr txBox="1"/>
          <p:nvPr/>
        </p:nvSpPr>
        <p:spPr>
          <a:xfrm>
            <a:off x="6009661" y="2302439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6" name="Google Shape;166;p18"/>
          <p:cNvSpPr txBox="1"/>
          <p:nvPr/>
        </p:nvSpPr>
        <p:spPr>
          <a:xfrm>
            <a:off x="6125190" y="2250359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Phân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đoạn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ngữ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nghĩa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(ADE20K):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Thiết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lập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kỷ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lục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mới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về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chỉ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số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mIoU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nhờ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khả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năng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nắm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bắt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chi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tiết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167" name="Google Shape;167;p18"/>
          <p:cNvSpPr txBox="1"/>
          <p:nvPr/>
        </p:nvSpPr>
        <p:spPr>
          <a:xfrm>
            <a:off x="723900" y="327660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8" name="Google Shape;168;p18"/>
          <p:cNvSpPr txBox="1"/>
          <p:nvPr/>
        </p:nvSpPr>
        <p:spPr>
          <a:xfrm>
            <a:off x="769989" y="3197712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Truy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xuất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(Retrieval):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SOTA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trên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COCO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và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Flickr30K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trong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bối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cảnh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Zero-shot.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96CFC7-2197-01BE-17A6-88EF9D093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2" y="4147830"/>
            <a:ext cx="9269082" cy="24618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5875" y="2085975"/>
            <a:ext cx="3810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9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2DD4BF"/>
                </a:solidFill>
                <a:latin typeface="Merriweather"/>
                <a:ea typeface="Merriweather"/>
                <a:cs typeface="Merriweather"/>
                <a:sym typeface="Merriweather"/>
              </a:rPr>
              <a:t>Đối Thoại Đa Phương Thức</a:t>
            </a:r>
            <a:endParaRPr/>
          </a:p>
        </p:txBody>
      </p:sp>
      <p:sp>
        <p:nvSpPr>
          <p:cNvPr id="175" name="Google Shape;175;p19"/>
          <p:cNvSpPr/>
          <p:nvPr/>
        </p:nvSpPr>
        <p:spPr>
          <a:xfrm>
            <a:off x="571500" y="1285875"/>
            <a:ext cx="11049000" cy="2857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 txBox="1"/>
          <p:nvPr/>
        </p:nvSpPr>
        <p:spPr>
          <a:xfrm>
            <a:off x="6381750" y="2486025"/>
            <a:ext cx="55006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9F6E4"/>
                </a:solidFill>
                <a:latin typeface="Merriweather"/>
                <a:ea typeface="Merriweather"/>
                <a:cs typeface="Merriweather"/>
                <a:sym typeface="Merriweather"/>
              </a:rPr>
              <a:t>Kết Quả Thực Nghiệm</a:t>
            </a:r>
            <a:endParaRPr/>
          </a:p>
        </p:txBody>
      </p:sp>
      <p:sp>
        <p:nvSpPr>
          <p:cNvPr id="177" name="Google Shape;177;p19"/>
          <p:cNvSpPr txBox="1"/>
          <p:nvPr/>
        </p:nvSpPr>
        <p:spPr>
          <a:xfrm>
            <a:off x="6381750" y="3019425"/>
            <a:ext cx="5238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InternVL thể hiện sự vượt trội trên các bảng xếp hạng MME và MMBench, tiệm cận hiệu suất của các mô hình thương mại.</a:t>
            </a:r>
            <a:endParaRPr/>
          </a:p>
        </p:txBody>
      </p:sp>
      <p:pic>
        <p:nvPicPr>
          <p:cNvPr id="178" name="Google Shape;178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23975" y="2124075"/>
            <a:ext cx="3733800" cy="3733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9"/>
          <p:cNvSpPr txBox="1"/>
          <p:nvPr/>
        </p:nvSpPr>
        <p:spPr>
          <a:xfrm>
            <a:off x="6648450" y="381952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6762750" y="3819525"/>
            <a:ext cx="4857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Nhận thức: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Xuất sắc trong OCR và đếm vật thể.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6648450" y="412432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6762750" y="4124325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Giảm thiểu ảo giác: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Tỷ lệ chính xác cao trên benchmark POPE.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6648450" y="473392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6762750" y="4733925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43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Suy luận: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Giải quyết tốt các bài toán đa bước và giải thích hình ảnh trừu tượng.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0"/>
          <p:cNvSpPr txBox="1"/>
          <p:nvPr/>
        </p:nvSpPr>
        <p:spPr>
          <a:xfrm>
            <a:off x="571500" y="571500"/>
            <a:ext cx="116014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2DD4BF"/>
                </a:solidFill>
                <a:latin typeface="Merriweather"/>
                <a:ea typeface="Merriweather"/>
                <a:cs typeface="Merriweather"/>
                <a:sym typeface="Merriweather"/>
              </a:rPr>
              <a:t>Tài Liệu Tham Khảo</a:t>
            </a:r>
            <a:endParaRPr/>
          </a:p>
        </p:txBody>
      </p:sp>
      <p:sp>
        <p:nvSpPr>
          <p:cNvPr id="190" name="Google Shape;190;p20"/>
          <p:cNvSpPr/>
          <p:nvPr/>
        </p:nvSpPr>
        <p:spPr>
          <a:xfrm>
            <a:off x="571500" y="1285875"/>
            <a:ext cx="11049000" cy="2857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0"/>
          <p:cNvSpPr txBox="1"/>
          <p:nvPr/>
        </p:nvSpPr>
        <p:spPr>
          <a:xfrm>
            <a:off x="571500" y="3107233"/>
            <a:ext cx="523875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[1] </a:t>
            </a:r>
            <a:r>
              <a:rPr lang="en-US" sz="12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Zhe Chen et al.</a:t>
            </a: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InternVL: Scaling up Vision Foundation Models and Aligning for Generic Visual-Linguistic Tasks. </a:t>
            </a:r>
            <a:r>
              <a:rPr lang="en-US" sz="1200" b="0" i="1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CVPR 2024</a:t>
            </a: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192" name="Google Shape;192;p20"/>
          <p:cNvSpPr txBox="1"/>
          <p:nvPr/>
        </p:nvSpPr>
        <p:spPr>
          <a:xfrm>
            <a:off x="571500" y="3747194"/>
            <a:ext cx="523875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[2] </a:t>
            </a:r>
            <a:r>
              <a:rPr lang="en-US" sz="12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Alexey Dosovitskiy et al.</a:t>
            </a: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An Image is Worth 16x16 Words: Transformers for Image Recognition at Scale. </a:t>
            </a:r>
            <a:r>
              <a:rPr lang="en-US" sz="1200" b="0" i="1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ICLR 2021</a:t>
            </a: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571500" y="4387155"/>
            <a:ext cx="523875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[3] </a:t>
            </a:r>
            <a:r>
              <a:rPr lang="en-US" sz="12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Hugo Touvron et al.</a:t>
            </a: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LLaMA: Open and Efficient Foundation Language Models. </a:t>
            </a:r>
            <a:r>
              <a:rPr lang="en-US" sz="1200" b="0" i="1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CoRR 2023</a:t>
            </a: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6381750" y="3070026"/>
            <a:ext cx="523875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[4] </a:t>
            </a:r>
            <a:r>
              <a:rPr lang="en-US" sz="12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Alec Radford et al.</a:t>
            </a: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Learning Transferable Visual Models From Natural Language Supervision. </a:t>
            </a:r>
            <a:r>
              <a:rPr lang="en-US" sz="1200" b="0" i="1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ICML 2021</a:t>
            </a: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195" name="Google Shape;195;p20"/>
          <p:cNvSpPr txBox="1"/>
          <p:nvPr/>
        </p:nvSpPr>
        <p:spPr>
          <a:xfrm>
            <a:off x="6381750" y="3709987"/>
            <a:ext cx="523875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[5] </a:t>
            </a:r>
            <a:r>
              <a:rPr lang="en-US" sz="12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Junnan Li et al.</a:t>
            </a: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BLIP-2: Bootstrapping Language-Image Pre-training with Frozen Image Encoders. </a:t>
            </a:r>
            <a:r>
              <a:rPr lang="en-US" sz="1200" b="0" i="1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ICML 2023</a:t>
            </a:r>
            <a:r>
              <a:rPr lang="en-US" sz="12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6250781" y="4578548"/>
            <a:ext cx="55006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2DD4BF"/>
                </a:solidFill>
                <a:latin typeface="Merriweather"/>
                <a:ea typeface="Merriweather"/>
                <a:cs typeface="Merriweather"/>
                <a:sym typeface="Merriweather"/>
              </a:rPr>
              <a:t>Cảm ơn Thầy và các bạn đã lắng nghe!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706</Words>
  <Application>Microsoft Office PowerPoint</Application>
  <PresentationFormat>Widescreen</PresentationFormat>
  <Paragraphs>54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Lato</vt:lpstr>
      <vt:lpstr>Calibri</vt:lpstr>
      <vt:lpstr>Arial</vt:lpstr>
      <vt:lpstr>Merriweather</vt:lpstr>
      <vt:lpstr>Lato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Nam Đinh</cp:lastModifiedBy>
  <cp:revision>6</cp:revision>
  <dcterms:modified xsi:type="dcterms:W3CDTF">2026-01-19T15:25:27Z</dcterms:modified>
</cp:coreProperties>
</file>